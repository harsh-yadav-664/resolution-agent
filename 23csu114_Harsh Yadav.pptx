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D2438"/>
          </a:solidFill>
          <a:ln w="15875">
            <a:solidFill>
              <a:srgbClr val="A97E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84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05F"/>
                </a:solidFill>
              </a:rPr>
              <a:t>✈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502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AERODESK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659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3   ·   AGENTIC AI FACTORY   ·   AIONOS RECRUITMENT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AeroDesk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9A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Customer-Facing Airline Disruption Resolution Agent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0690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Policy-grounded resolution for airline disruptions — resolve what can be resolved, escalate what cannot.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5806440"/>
            <a:ext cx="10424160" cy="0"/>
          </a:xfrm>
          <a:prstGeom prst="line">
            <a:avLst/>
          </a:prstGeom>
          <a:noFill/>
          <a:ln w="9525">
            <a:solidFill>
              <a:srgbClr val="A97E3D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686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Yadav   ·   23CSU114   ·   23csu114@ncuindia.edu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7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4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Customer Complaint to Correct Resolution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disruptions create high-emotion customer requests where a single message can contain multiple asks.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97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combine multiple requests in one message.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requests carry different eligibilities.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thresholds must be applied precisely.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must remain natural and empathetic.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outside authority must be escalated, not improvised.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97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2487168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 what the agent is authorized to resolve — and escalate precisely what it is not.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63640" y="3977640"/>
            <a:ext cx="5303520" cy="1783080"/>
          </a:xfrm>
          <a:prstGeom prst="roundRect">
            <a:avLst>
              <a:gd name="adj" fmla="val 4103"/>
            </a:avLst>
          </a:prstGeom>
          <a:solidFill>
            <a:srgbClr val="FFFDF7"/>
          </a:solidFill>
          <a:ln w="12700">
            <a:solidFill>
              <a:srgbClr val="DDD2B8"/>
            </a:solidFill>
            <a:prstDash val="solid"/>
          </a:ln>
          <a:effectLst>
            <a:outerShdw sx="100000" sy="100000" kx="0" ky="0" algn="bl" rotWithShape="0" blurRad="127000" dist="38100" dir="5400000">
              <a:srgbClr val="3A2F1A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37960" y="413308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 a full refund, and I'd also like a free upgrade to business class — for the trouble."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37960" y="4892040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E3F5EB"/>
          </a:solidFill>
          <a:ln w="12700">
            <a:solidFill>
              <a:srgbClr val="E3F5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48920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Refund — permitted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823960" y="4892040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FAEDD4"/>
          </a:solidFill>
          <a:ln w="12700">
            <a:solidFill>
              <a:srgbClr val="FAED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23960" y="48920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Upgrade — escalate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5394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 message, two separately evaluated intents.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AeroDesk  ·  Assignment 3  ·  Harsh Yadav (23CSU114)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7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WHAT MAKES THIS AN AGENT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4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Resolution Agent, Not Just a Chatbot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AeroDesk is designed around an outcome — not simply a conversational response.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DF7"/>
          </a:solidFill>
          <a:ln w="12700">
            <a:solidFill>
              <a:srgbClr val="DDD2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50008"/>
            <a:ext cx="365760" cy="365760"/>
          </a:xfrm>
          <a:prstGeom prst="oval">
            <a:avLst/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D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92608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Intent, including multiple requests in one message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06240" y="21488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DF7"/>
          </a:solidFill>
          <a:ln w="12700">
            <a:solidFill>
              <a:srgbClr val="DDD2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2350008"/>
            <a:ext cx="365760" cy="365760"/>
          </a:xfrm>
          <a:prstGeom prst="oval">
            <a:avLst/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07408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D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407408" y="292608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known customer and booking context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0" y="21488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DF7"/>
          </a:solidFill>
          <a:ln w="12700">
            <a:solidFill>
              <a:srgbClr val="DDD2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73568" y="2350008"/>
            <a:ext cx="365760" cy="365760"/>
          </a:xfrm>
          <a:prstGeom prst="oval">
            <a:avLst/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73568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D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POLICY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73568" y="292608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eligibility before acting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DF7"/>
          </a:solidFill>
          <a:ln w="12700">
            <a:solidFill>
              <a:srgbClr val="DDD2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4224528"/>
            <a:ext cx="365760" cy="365760"/>
          </a:xfrm>
          <a:prstGeom prst="oval">
            <a:avLst/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206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D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/ ESCALATE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480060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Resolve, or hand off what lacks authority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06240" y="40233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DF7"/>
          </a:solidFill>
          <a:ln w="12700">
            <a:solidFill>
              <a:srgbClr val="DDD2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07408" y="4224528"/>
            <a:ext cx="365760" cy="365760"/>
          </a:xfrm>
          <a:prstGeom prst="oval">
            <a:avLst/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07408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892040" y="4206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D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407408" y="480060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decision and action trace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772400" y="40233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DF7"/>
          </a:solidFill>
          <a:ln w="12700">
            <a:solidFill>
              <a:srgbClr val="DDD2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73568" y="4224528"/>
            <a:ext cx="365760" cy="365760"/>
          </a:xfrm>
          <a:prstGeom prst="oval">
            <a:avLst/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73568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458200" y="4206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D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973568" y="480060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back to the customer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AeroDesk  ·  Assignment 3  ·  Harsh Yadav (23CSU114)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7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SOURCE OF TRUTH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4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Policy-Grounded, Not Guess-Grounded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supplied Data Pack is the sole authoritative source for this prototype — no invented rules, prices, or exceptions.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97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SUPPLIED SCENARIOS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487168"/>
            <a:ext cx="5029200" cy="713232"/>
          </a:xfrm>
          <a:prstGeom prst="roundRect">
            <a:avLst>
              <a:gd name="adj" fmla="val 7692"/>
            </a:avLst>
          </a:prstGeom>
          <a:solidFill>
            <a:srgbClr val="FFFDF7"/>
          </a:solidFill>
          <a:ln w="12700">
            <a:solidFill>
              <a:srgbClr val="DDD2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63347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B9860B"/>
          </a:solidFill>
          <a:ln w="12700">
            <a:solidFill>
              <a:srgbClr val="B986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2624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GLD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578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Nair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8712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SK-204 · Delhi → Goa · Cancelled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3355848"/>
            <a:ext cx="5029200" cy="713232"/>
          </a:xfrm>
          <a:prstGeom prst="roundRect">
            <a:avLst>
              <a:gd name="adj" fmla="val 7692"/>
            </a:avLst>
          </a:prstGeom>
          <a:solidFill>
            <a:srgbClr val="FFFDF7"/>
          </a:solidFill>
          <a:ln w="12700">
            <a:solidFill>
              <a:srgbClr val="DDD2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350215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5F6B7D"/>
          </a:solidFill>
          <a:ln w="12700">
            <a:solidFill>
              <a:srgbClr val="5F6B7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SLV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4472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Arvind Kulkarni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7398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SK-118 · Mumbai → Bengaluru · 4h delay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224528"/>
            <a:ext cx="5029200" cy="713232"/>
          </a:xfrm>
          <a:prstGeom prst="roundRect">
            <a:avLst>
              <a:gd name="adj" fmla="val 7692"/>
            </a:avLst>
          </a:prstGeom>
          <a:solidFill>
            <a:srgbClr val="FFFDF7"/>
          </a:solidFill>
          <a:ln w="12700">
            <a:solidFill>
              <a:srgbClr val="DDD2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37083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4361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3159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Meher Kaur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6085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SK-305 · Delhi → Hyderabad · 6h delay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97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SUPPLIED RULES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89320" y="2450592"/>
            <a:ext cx="5577840" cy="3246120"/>
          </a:xfrm>
          <a:prstGeom prst="roundRect">
            <a:avLst>
              <a:gd name="adj" fmla="val 1690"/>
            </a:avLst>
          </a:prstGeom>
          <a:solidFill>
            <a:srgbClr val="FFFDF7"/>
          </a:solidFill>
          <a:ln w="12700">
            <a:solidFill>
              <a:srgbClr val="DDD2B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2633472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288036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rebooking (24h) or full refund — customer’s choice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3182112"/>
            <a:ext cx="5074920" cy="0"/>
          </a:xfrm>
          <a:prstGeom prst="line">
            <a:avLst/>
          </a:prstGeom>
          <a:noFill/>
          <a:ln w="9525">
            <a:solidFill>
              <a:srgbClr val="DDD2B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0" y="3236976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&gt; 3h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3483864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voucher + lounge access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3785616"/>
            <a:ext cx="5074920" cy="0"/>
          </a:xfrm>
          <a:prstGeom prst="line">
            <a:avLst/>
          </a:prstGeom>
          <a:noFill/>
          <a:ln w="9525">
            <a:solidFill>
              <a:srgbClr val="DDD2B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0" y="3840480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&gt; 5h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408736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hotel, delayed-hours portion only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389120"/>
            <a:ext cx="5074920" cy="0"/>
          </a:xfrm>
          <a:prstGeom prst="line">
            <a:avLst/>
          </a:prstGeom>
          <a:noFill/>
          <a:ln w="9525">
            <a:solidFill>
              <a:srgbClr val="DDD2B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0" y="444398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diff &gt; ₹1,500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469087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supervisor approval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4992624"/>
            <a:ext cx="5074920" cy="0"/>
          </a:xfrm>
          <a:prstGeom prst="line">
            <a:avLst/>
          </a:prstGeom>
          <a:noFill/>
          <a:ln w="9525">
            <a:solidFill>
              <a:srgbClr val="DDD2B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17920" y="5047488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/ Platinum tier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217920" y="5294376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rebooking only — no extra comp.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5806440"/>
            <a:ext cx="10927080" cy="502920"/>
          </a:xfrm>
          <a:prstGeom prst="roundRect">
            <a:avLst>
              <a:gd name="adj" fmla="val 10909"/>
            </a:avLst>
          </a:prstGeom>
          <a:solidFill>
            <a:srgbClr val="EFE8D8"/>
          </a:solidFill>
          <a:ln w="12700">
            <a:solidFill>
              <a:srgbClr val="DDD2B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68680" y="58064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discipline:  </a:t>
            </a:r>
            <a:pPr indent="0" marL="0">
              <a:buNone/>
            </a:pPr>
            <a:r>
              <a:rPr lang="en-US" sz="110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conversations inform tone only — never treated as policy or customer data.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AeroDesk  ·  Assignment 3  ·  Harsh Yadav (23CSU114)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7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4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 → Validate → Resolve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intent layer proposes an interpretation. The policy engine is the only authority that decides.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DF7"/>
          </a:solidFill>
          <a:ln w="15875">
            <a:solidFill>
              <a:srgbClr val="DDD2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551176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423160"/>
            <a:ext cx="320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97E3D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80360" y="242316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DF7"/>
          </a:solidFill>
          <a:ln w="15875">
            <a:solidFill>
              <a:srgbClr val="DDD2B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90088" y="2551176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/ NLU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990088" y="326440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423160"/>
            <a:ext cx="320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97E3D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20640" y="242316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0D2438"/>
          </a:solidFill>
          <a:ln w="15875">
            <a:solidFill>
              <a:srgbClr val="0D24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30368" y="2551176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230368" y="326440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A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+ Authority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2423160"/>
            <a:ext cx="320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97E3D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60920" y="242316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DF7"/>
          </a:solidFill>
          <a:ln w="15875">
            <a:solidFill>
              <a:srgbClr val="DDD2B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70648" y="2551176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Trace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423160"/>
            <a:ext cx="320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97E3D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601200" y="242316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DF7"/>
          </a:solidFill>
          <a:ln w="15875">
            <a:solidFill>
              <a:srgbClr val="DDD2B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10928" y="2551176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114800"/>
            <a:ext cx="10927080" cy="1417320"/>
          </a:xfrm>
          <a:prstGeom prst="roundRect">
            <a:avLst>
              <a:gd name="adj" fmla="val 5161"/>
            </a:avLst>
          </a:prstGeom>
          <a:solidFill>
            <a:srgbClr val="FFFDF7"/>
          </a:solidFill>
          <a:ln w="12700">
            <a:solidFill>
              <a:srgbClr val="DDD2B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315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97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617720"/>
            <a:ext cx="10378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can propose an interpretation of what a customer wants. Only deterministic policy logic may authorize an action — the model can never invent, change, or override a supplied rule.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AeroDesk  ·  Assignment 3  ·  Harsh Yadav (23CSU114)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7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Can Interpret. Policy Must Authorize.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27080" cy="1828800"/>
          </a:xfrm>
          <a:prstGeom prst="roundRect">
            <a:avLst>
              <a:gd name="adj" fmla="val 3000"/>
            </a:avLst>
          </a:prstGeom>
          <a:solidFill>
            <a:srgbClr val="FFFDF7"/>
          </a:solidFill>
          <a:ln w="12700">
            <a:solidFill>
              <a:srgbClr val="DDD2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97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7373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97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326880" y="1737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97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TO ACT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14400" y="2057400"/>
            <a:ext cx="10378440" cy="0"/>
          </a:xfrm>
          <a:prstGeom prst="line">
            <a:avLst/>
          </a:prstGeom>
          <a:noFill/>
          <a:ln w="12700">
            <a:solidFill>
              <a:srgbClr val="DDD2B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2128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/ NLU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22128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the customer's request and identify each ask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326880" y="2240280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FBE8E5"/>
          </a:solidFill>
          <a:ln w="12700">
            <a:solidFill>
              <a:srgbClr val="FBE8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0" y="22402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3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6151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261518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thresholds, eligibility, and escalation conditions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326880" y="2642616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E3F5EB"/>
          </a:solidFill>
          <a:ln w="12700">
            <a:solidFill>
              <a:srgbClr val="E3F5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0" y="264261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30175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decision into an action or an escalation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26880" y="3044952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FBE8E5"/>
          </a:solidFill>
          <a:ln w="12700">
            <a:solidFill>
              <a:srgbClr val="FBE8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26880" y="30449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3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657600"/>
            <a:ext cx="10927080" cy="1417320"/>
          </a:xfrm>
          <a:prstGeom prst="roundRect">
            <a:avLst>
              <a:gd name="adj" fmla="val 5161"/>
            </a:avLst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A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SEPARATION MATTERS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1605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can interpret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put me in business class for free?" </a:t>
            </a:r>
            <a:pPr indent="0" marL="0">
              <a:buNone/>
            </a:pPr>
            <a:r>
              <a:rPr lang="en-US" sz="130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but it should not decide by itself whether that compensation is allowed. Interpretation may be probabilistic; authorization must be deterministic.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25780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extension: a future LLM / function-calling layer can be introduced behind the policy gate without moving business-rule authority into the model.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AeroDesk  ·  Assignment 3  ·  Harsh Yadav (23CSU114)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7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SCENARIOS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Customers. Three Different Resolution Boundaries.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3383280"/>
          </a:xfrm>
          <a:prstGeom prst="roundRect">
            <a:avLst>
              <a:gd name="adj" fmla="val 2162"/>
            </a:avLst>
          </a:prstGeom>
          <a:solidFill>
            <a:srgbClr val="FFFDF7"/>
          </a:solidFill>
          <a:ln w="12700">
            <a:solidFill>
              <a:srgbClr val="DDD2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B9860B"/>
          </a:solidFill>
          <a:ln w="12700">
            <a:solidFill>
              <a:srgbClr val="B986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11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9280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 Nair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19456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Flight · SK-204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2651760"/>
            <a:ext cx="3044952" cy="0"/>
          </a:xfrm>
          <a:prstGeom prst="line">
            <a:avLst/>
          </a:prstGeom>
          <a:noFill/>
          <a:ln w="12700">
            <a:solidFill>
              <a:srgbClr val="DDD2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788920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A97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68680" y="3108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3F5EB"/>
          </a:solidFill>
          <a:ln w="12700">
            <a:solidFill>
              <a:srgbClr val="E3F5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099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8A53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0632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refund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0156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68680" y="38862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AEDD4"/>
          </a:solidFill>
          <a:ln w="12700">
            <a:solidFill>
              <a:srgbClr val="FAED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6A12"/>
                </a:solidFill>
              </a:rPr>
              <a:t>⚠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84048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business upgrade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17880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25112" y="1691640"/>
            <a:ext cx="3502152" cy="3383280"/>
          </a:xfrm>
          <a:prstGeom prst="roundRect">
            <a:avLst>
              <a:gd name="adj" fmla="val 2162"/>
            </a:avLst>
          </a:prstGeom>
          <a:solidFill>
            <a:srgbClr val="FFFDF7"/>
          </a:solidFill>
          <a:ln w="12700">
            <a:solidFill>
              <a:srgbClr val="DDD2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53712" y="1920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5F6B7D"/>
          </a:solidFill>
          <a:ln w="12700">
            <a:solidFill>
              <a:srgbClr val="5F6B7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53712" y="1911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SLV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193792" y="189280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Arvind Kulkarni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5193792" y="219456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4-Hour Delay · SK-118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53712" y="2651760"/>
            <a:ext cx="3044952" cy="0"/>
          </a:xfrm>
          <a:prstGeom prst="line">
            <a:avLst/>
          </a:prstGeom>
          <a:noFill/>
          <a:ln w="12700">
            <a:solidFill>
              <a:srgbClr val="DDD2B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53712" y="2788920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A97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53712" y="3108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3F5EB"/>
          </a:solidFill>
          <a:ln w="12700">
            <a:solidFill>
              <a:srgbClr val="E3F5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53712" y="3099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8A53"/>
                </a:solidFill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965192" y="30632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voucher + lounge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965192" y="340156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53712" y="38862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BE8E5"/>
          </a:solidFill>
          <a:ln w="12700">
            <a:solidFill>
              <a:srgbClr val="FBE8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53712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342F"/>
                </a:solidFill>
              </a:rPr>
              <a:t>✕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965192" y="384048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accommodation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965192" y="417880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3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eligible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10144" y="1691640"/>
            <a:ext cx="3502152" cy="3383280"/>
          </a:xfrm>
          <a:prstGeom prst="roundRect">
            <a:avLst>
              <a:gd name="adj" fmla="val 2162"/>
            </a:avLst>
          </a:prstGeom>
          <a:solidFill>
            <a:srgbClr val="FFFDF7"/>
          </a:solidFill>
          <a:ln w="12700">
            <a:solidFill>
              <a:srgbClr val="DDD2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38744" y="1920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38744" y="1911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PLT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878824" y="189280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Meher Kaur</a:t>
            </a:r>
            <a:endParaRPr lang="en-US" sz="1550" dirty="0"/>
          </a:p>
        </p:txBody>
      </p:sp>
      <p:sp>
        <p:nvSpPr>
          <p:cNvPr id="38" name="Text 36"/>
          <p:cNvSpPr txBox="1"/>
          <p:nvPr/>
        </p:nvSpPr>
        <p:spPr>
          <a:xfrm>
            <a:off x="8878824" y="219456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6-Hour Delay · SK-305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238744" y="2651760"/>
            <a:ext cx="3044952" cy="0"/>
          </a:xfrm>
          <a:prstGeom prst="line">
            <a:avLst/>
          </a:prstGeom>
          <a:noFill/>
          <a:ln w="12700">
            <a:solidFill>
              <a:srgbClr val="DDD2B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38744" y="2788920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A97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38744" y="3108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3F5EB"/>
          </a:solidFill>
          <a:ln w="12700">
            <a:solidFill>
              <a:srgbClr val="E3F5E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38744" y="3099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8A53"/>
                </a:solidFill>
              </a:rPr>
              <a:t>✓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650224" y="30632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+ lounge + hotel (delayed hrs)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8650224" y="340156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238744" y="38862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AEDD4"/>
          </a:solidFill>
          <a:ln w="12700">
            <a:solidFill>
              <a:srgbClr val="FAEDD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238744" y="3877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6A12"/>
                </a:solidFill>
              </a:rPr>
              <a:t>⚠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8650224" y="384048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₹2,000 fare difference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8650224" y="417880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40080" y="5257800"/>
            <a:ext cx="10927080" cy="640080"/>
          </a:xfrm>
          <a:prstGeom prst="roundRect">
            <a:avLst>
              <a:gd name="adj" fmla="val 8571"/>
            </a:avLst>
          </a:prstGeom>
          <a:solidFill>
            <a:srgbClr val="EFE8D8"/>
          </a:solidFill>
          <a:ln w="12700">
            <a:solidFill>
              <a:srgbClr val="DDD2B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68680" y="52578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beyond the 3 required cases:  </a:t>
            </a:r>
            <a:pPr indent="0" marL="0">
              <a:buNone/>
            </a:pPr>
            <a:r>
              <a:rPr lang="en-US" sz="120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legal-action or formal-complaint message triggers immediate escalation, in any conversation.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AeroDesk  ·  Assignment 3  ·  Harsh Yadav (23CSU114)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7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TRANSPARENCY BY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for the Customer. Observable for the Evaluator.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DF7"/>
          </a:solidFill>
          <a:ln w="12700">
            <a:solidFill>
              <a:srgbClr val="DDD2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0136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97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AERODESK CHAT · CUSTOMER VIEW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031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Nair · Gold · SK-204 (Cancelled)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2514600"/>
            <a:ext cx="4114800" cy="914400"/>
          </a:xfrm>
          <a:prstGeom prst="roundRect">
            <a:avLst>
              <a:gd name="adj" fmla="val 5000"/>
            </a:avLst>
          </a:prstGeom>
          <a:solidFill>
            <a:srgbClr val="EFE8D8"/>
          </a:solidFill>
          <a:ln w="12700">
            <a:solidFill>
              <a:srgbClr val="DDD2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62432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gone ahead and initiated your full refund. It will be returned to your original payment method within 7 business days.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611880"/>
            <a:ext cx="4114800" cy="1234440"/>
          </a:xfrm>
          <a:prstGeom prst="roundRect">
            <a:avLst>
              <a:gd name="adj" fmla="val 3704"/>
            </a:avLst>
          </a:prstGeom>
          <a:solidFill>
            <a:srgbClr val="FAEDD4"/>
          </a:solidFill>
          <a:ln w="12700">
            <a:solidFill>
              <a:srgbClr val="A86A1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3721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8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FOR REVIEW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99592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unable to apply a complimentary upgrade as part of this resolution, but I can escalate the request for review.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3035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logic never appears in this conversation.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180136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TRACE · EVALUATOR VIEW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19456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DC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 Full refund requested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DC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 Cancellation Rebooking Rule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DC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 Refund approved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DC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 Initiated → original payment method, 7 business days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DC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 Complimentary upgrade requested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DC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 Compensation beyond stated policy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DC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 Not authorized — escalate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DC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 Escalated to supervisor for review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49834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E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→ refund initiated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52578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B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→ supervisor review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AeroDesk  ·  Assignment 3  ·  Harsh Yadav (23CSU114)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7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PROCESS &amp; TOOLING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Development, Controlled Runtime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DF7"/>
          </a:solidFill>
          <a:ln w="12700">
            <a:solidFill>
              <a:srgbClr val="DDD2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47672"/>
            <a:ext cx="502920" cy="502920"/>
          </a:xfrm>
          <a:prstGeom prst="oval">
            <a:avLst/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659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060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97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88036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exploration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implementation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testing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development &amp; polish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Edge-case analysis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DF7"/>
          </a:solidFill>
          <a:ln w="12700">
            <a:solidFill>
              <a:srgbClr val="DDD2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947672"/>
            <a:ext cx="502920" cy="502920"/>
          </a:xfrm>
          <a:prstGeom prst="oval">
            <a:avLst/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19659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6060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97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88036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critique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design decisions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planning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251960"/>
            <a:ext cx="10927080" cy="1691640"/>
          </a:xfrm>
          <a:prstGeom prst="roundRect">
            <a:avLst>
              <a:gd name="adj" fmla="val 4324"/>
            </a:avLst>
          </a:prstGeom>
          <a:solidFill>
            <a:srgbClr val="0D2438"/>
          </a:solidFill>
          <a:ln w="12700">
            <a:solidFill>
              <a:srgbClr val="0D24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A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SCOPE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73659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LLM API runs inside the current prototype. The intent layer is a lightweight, pattern-based module with an intentionally separated integration seam.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3949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9A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pPr indent="0" marL="0">
              <a:buNone/>
            </a:pPr>
            <a:r>
              <a:rPr lang="en-US" sz="1150" i="1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scoping decision — prioritize a working, inspectable, reliable prototype over an untested external model dependency within the assignment's time limit.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AeroDesk  ·  Assignment 3  ·  Harsh Yadav (23CSU114)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LOOKING AHEAD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Focused Prototype to Production-Ready Agent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02152" cy="3246120"/>
          </a:xfrm>
          <a:prstGeom prst="roundRect">
            <a:avLst>
              <a:gd name="adj" fmla="val 2254"/>
            </a:avLst>
          </a:prstGeom>
          <a:solidFill>
            <a:srgbClr val="14314A"/>
          </a:solidFill>
          <a:ln w="12700">
            <a:solidFill>
              <a:srgbClr val="2A4A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9A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SCOPE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30449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Supplied customer scenarios only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airline / customer actions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or payment integration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production database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5112" y="1783080"/>
            <a:ext cx="3502152" cy="3246120"/>
          </a:xfrm>
          <a:prstGeom prst="roundRect">
            <a:avLst>
              <a:gd name="adj" fmla="val 2254"/>
            </a:avLst>
          </a:prstGeom>
          <a:solidFill>
            <a:srgbClr val="14314A"/>
          </a:solidFill>
          <a:ln w="12700">
            <a:solidFill>
              <a:srgbClr val="2A4A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53712" y="201168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9A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53712" y="2377440"/>
            <a:ext cx="30449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Zero-dependency, instantly runnable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 enforcement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Policy-controlled compensation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Explicit, visible escalation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10144" y="1783080"/>
            <a:ext cx="3502152" cy="3246120"/>
          </a:xfrm>
          <a:prstGeom prst="roundRect">
            <a:avLst>
              <a:gd name="adj" fmla="val 2254"/>
            </a:avLst>
          </a:prstGeom>
          <a:solidFill>
            <a:srgbClr val="14314A"/>
          </a:solidFill>
          <a:ln w="12700">
            <a:solidFill>
              <a:srgbClr val="2A4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38744" y="201168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9A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38744" y="2377440"/>
            <a:ext cx="30449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LLM / function-calling behind the policy gate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real booking systems of record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governed APIs for real execution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audit / observability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5257800"/>
            <a:ext cx="10927080" cy="0"/>
          </a:xfrm>
          <a:prstGeom prst="line">
            <a:avLst/>
          </a:prstGeom>
          <a:noFill/>
          <a:ln w="9525">
            <a:solidFill>
              <a:srgbClr val="A97E3D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40080" y="544068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9A0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"AeroDesk demonstrates a controlled path from customer intent to business resolution — with automation where authorized and human oversight where required."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Yadav   ·   23CSU114   ·   AIONOS Assignment 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2026-09-17T17:54:16Z</dcterms:created>
  <dcterms:modified xsi:type="dcterms:W3CDTF">2026-09-17T17:54:16Z</dcterms:modified>
</cp:coreProperties>
</file>